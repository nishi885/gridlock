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uce Heavy" charset="1" panose="00000A00000000000000"/>
      <p:regular r:id="rId13"/>
    </p:embeddedFont>
    <p:embeddedFont>
      <p:font typeface="Open Sauce" charset="1" panose="00000500000000000000"/>
      <p:regular r:id="rId14"/>
    </p:embeddedFont>
    <p:embeddedFont>
      <p:font typeface="Open Sauce Bold" charset="1" panose="00000800000000000000"/>
      <p:regular r:id="rId15"/>
    </p:embeddedFont>
    <p:embeddedFont>
      <p:font typeface="DM Sans Bold" charset="1" panose="00000000000000000000"/>
      <p:regular r:id="rId16"/>
    </p:embeddedFont>
    <p:embeddedFont>
      <p:font typeface="Open Sauce Semi-Bold" charset="1" panose="000007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90" t="-43828" r="0" b="-13454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608424" y="7182108"/>
            <a:ext cx="19504848" cy="3086100"/>
            <a:chOff x="0" y="0"/>
            <a:chExt cx="513707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7079" cy="812800"/>
            </a:xfrm>
            <a:custGeom>
              <a:avLst/>
              <a:gdLst/>
              <a:ahLst/>
              <a:cxnLst/>
              <a:rect r="r" b="b" t="t" l="l"/>
              <a:pathLst>
                <a:path h="812800" w="5137079">
                  <a:moveTo>
                    <a:pt x="0" y="0"/>
                  </a:moveTo>
                  <a:lnTo>
                    <a:pt x="5137079" y="0"/>
                  </a:lnTo>
                  <a:lnTo>
                    <a:pt x="513707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1F6B9A">
                    <a:alpha val="60000"/>
                  </a:srgbClr>
                </a:gs>
                <a:gs pos="100000">
                  <a:srgbClr val="1E6C9A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5137079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8060807" y="5479278"/>
            <a:ext cx="216638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-608424" y="0"/>
            <a:ext cx="19504848" cy="3086100"/>
            <a:chOff x="0" y="0"/>
            <a:chExt cx="5137079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37079" cy="812800"/>
            </a:xfrm>
            <a:custGeom>
              <a:avLst/>
              <a:gdLst/>
              <a:ahLst/>
              <a:cxnLst/>
              <a:rect r="r" b="b" t="t" l="l"/>
              <a:pathLst>
                <a:path h="812800" w="5137079">
                  <a:moveTo>
                    <a:pt x="0" y="0"/>
                  </a:moveTo>
                  <a:lnTo>
                    <a:pt x="5137079" y="0"/>
                  </a:lnTo>
                  <a:lnTo>
                    <a:pt x="513707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1F6B9A">
                    <a:alpha val="60000"/>
                  </a:srgbClr>
                </a:gs>
                <a:gs pos="100000">
                  <a:srgbClr val="1E6C9A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137079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397824" y="994604"/>
            <a:ext cx="11492352" cy="433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82"/>
              </a:lnSpc>
            </a:pPr>
            <a:r>
              <a:rPr lang="en-US" b="true" sz="11182" spc="559">
                <a:solidFill>
                  <a:srgbClr val="000000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GRIDLOCK HACKATHON 2.0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28452" y="6562983"/>
            <a:ext cx="6231096" cy="168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spc="5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Traffic Demand Prediction</a:t>
            </a:r>
          </a:p>
          <a:p>
            <a:pPr algn="l">
              <a:lnSpc>
                <a:spcPts val="3359"/>
              </a:lnSpc>
            </a:pPr>
            <a:r>
              <a:rPr lang="en-US" sz="2799" spc="5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Flipkart × Bengaluru Traffic Police</a:t>
            </a:r>
          </a:p>
          <a:p>
            <a:pPr algn="l">
              <a:lnSpc>
                <a:spcPts val="3359"/>
              </a:lnSpc>
            </a:pPr>
            <a:r>
              <a:rPr lang="en-US" sz="2799" spc="5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Score: 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90" t="-43828" r="0" b="-13454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249038" y="-249038"/>
            <a:ext cx="10287000" cy="10785075"/>
            <a:chOff x="0" y="0"/>
            <a:chExt cx="2709333" cy="28405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3" cy="2840514"/>
            </a:xfrm>
            <a:custGeom>
              <a:avLst/>
              <a:gdLst/>
              <a:ahLst/>
              <a:cxnLst/>
              <a:rect r="r" b="b" t="t" l="l"/>
              <a:pathLst>
                <a:path h="2840514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2840514"/>
                  </a:lnTo>
                  <a:lnTo>
                    <a:pt x="0" y="2840514"/>
                  </a:lnTo>
                  <a:close/>
                </a:path>
              </a:pathLst>
            </a:custGeom>
            <a:gradFill rotWithShape="true">
              <a:gsLst>
                <a:gs pos="0">
                  <a:srgbClr val="1F6B9A">
                    <a:alpha val="70000"/>
                  </a:srgbClr>
                </a:gs>
                <a:gs pos="100000">
                  <a:srgbClr val="1E6C9A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709333" cy="2850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27591"/>
            <a:ext cx="6357911" cy="1155192"/>
            <a:chOff x="0" y="0"/>
            <a:chExt cx="8477215" cy="1540257"/>
          </a:xfrm>
        </p:grpSpPr>
        <p:sp>
          <p:nvSpPr>
            <p:cNvPr name="AutoShape 7" id="7"/>
            <p:cNvSpPr/>
            <p:nvPr/>
          </p:nvSpPr>
          <p:spPr>
            <a:xfrm flipV="true">
              <a:off x="0" y="1514857"/>
              <a:ext cx="1199593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95250"/>
              <a:ext cx="8477215" cy="8801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en-US" sz="4800" spc="-96" b="true">
                  <a:solidFill>
                    <a:srgbClr val="000000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Problem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429470" y="9119567"/>
            <a:ext cx="282983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 spc="12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4364" y="1468483"/>
            <a:ext cx="14650676" cy="797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1"/>
              </a:lnSpc>
            </a:pPr>
            <a:r>
              <a:rPr lang="en-US" sz="2850" spc="57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Urban traffic demand varies significantly based on time, weather, location, and road infrastructure. Unpredictable traffic patterns can lead to congestion, inefficient resource utilization, and increased travel time.</a:t>
            </a:r>
          </a:p>
          <a:p>
            <a:pPr algn="l">
              <a:lnSpc>
                <a:spcPts val="4561"/>
              </a:lnSpc>
            </a:pPr>
            <a:r>
              <a:rPr lang="en-US" sz="2850" spc="57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</a:t>
            </a:r>
          </a:p>
          <a:p>
            <a:pPr algn="l">
              <a:lnSpc>
                <a:spcPts val="4561"/>
              </a:lnSpc>
            </a:pPr>
            <a:r>
              <a:rPr lang="en-US" sz="2850" spc="57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Develop a machine learning model to accurately predict traffic demand using temporal, geographic, environmental, and infrastructure-related features.</a:t>
            </a:r>
          </a:p>
          <a:p>
            <a:pPr algn="l">
              <a:lnSpc>
                <a:spcPts val="4561"/>
              </a:lnSpc>
            </a:pPr>
            <a:r>
              <a:rPr lang="en-US" sz="2850" spc="57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Expected Impact</a:t>
            </a:r>
          </a:p>
          <a:p>
            <a:pPr algn="l" marL="615462" indent="-307731" lvl="1">
              <a:lnSpc>
                <a:spcPts val="4561"/>
              </a:lnSpc>
              <a:buFont typeface="Arial"/>
              <a:buChar char="•"/>
            </a:pPr>
            <a:r>
              <a:rPr lang="en-US" b="true" sz="2850" spc="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Reduce traffic congestion</a:t>
            </a:r>
          </a:p>
          <a:p>
            <a:pPr algn="l" marL="615462" indent="-307731" lvl="1">
              <a:lnSpc>
                <a:spcPts val="4561"/>
              </a:lnSpc>
              <a:buFont typeface="Arial"/>
              <a:buChar char="•"/>
            </a:pPr>
            <a:r>
              <a:rPr lang="en-US" b="true" sz="2850" spc="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Improve traffic management decisions</a:t>
            </a:r>
          </a:p>
          <a:p>
            <a:pPr algn="l" marL="615462" indent="-307731" lvl="1">
              <a:lnSpc>
                <a:spcPts val="4561"/>
              </a:lnSpc>
              <a:buFont typeface="Arial"/>
              <a:buChar char="•"/>
            </a:pPr>
            <a:r>
              <a:rPr lang="en-US" b="true" sz="2850" spc="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Optimize resource allocation</a:t>
            </a:r>
          </a:p>
          <a:p>
            <a:pPr algn="l" marL="615462" indent="-307731" lvl="1">
              <a:lnSpc>
                <a:spcPts val="4561"/>
              </a:lnSpc>
              <a:buFont typeface="Arial"/>
              <a:buChar char="•"/>
            </a:pPr>
            <a:r>
              <a:rPr lang="en-US" b="true" sz="2850" spc="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Support data-driven urban planning</a:t>
            </a:r>
          </a:p>
          <a:p>
            <a:pPr algn="l" marL="615462" indent="-307731" lvl="1">
              <a:lnSpc>
                <a:spcPts val="4561"/>
              </a:lnSpc>
              <a:buFont typeface="Arial"/>
              <a:buChar char="•"/>
            </a:pPr>
            <a:r>
              <a:rPr lang="en-US" b="true" sz="2850" spc="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Enhance mobility and transportation services</a:t>
            </a:r>
          </a:p>
          <a:p>
            <a:pPr algn="l">
              <a:lnSpc>
                <a:spcPts val="4561"/>
              </a:lnSpc>
            </a:pPr>
            <a:r>
              <a:rPr lang="en-US" sz="2850" spc="57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Target Variable: </a:t>
            </a:r>
            <a:r>
              <a:rPr lang="en-US" sz="2850" spc="57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Traffic Demand (Normalized Traffic Volume)</a:t>
            </a:r>
          </a:p>
          <a:p>
            <a:pPr algn="l">
              <a:lnSpc>
                <a:spcPts val="456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90" t="-43828" r="0" b="-13454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2709333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1F6B9A">
                    <a:alpha val="70000"/>
                  </a:srgbClr>
                </a:gs>
                <a:gs pos="100000">
                  <a:srgbClr val="1E6C9A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709333" cy="4826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1464717"/>
            <a:ext cx="90905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366345" y="1741689"/>
            <a:ext cx="12650973" cy="818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spc="16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 Preprocessing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Missing Value Treatment:</a:t>
            </a:r>
          </a:p>
          <a:p>
            <a:pPr algn="l" marL="906774" indent="-302258" lvl="2">
              <a:lnSpc>
                <a:spcPts val="2519"/>
              </a:lnSpc>
              <a:buFont typeface="Arial"/>
              <a:buChar char="⚬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Road Type → Mode Imputation (0.77%)</a:t>
            </a:r>
          </a:p>
          <a:p>
            <a:pPr algn="l" marL="906774" indent="-302258" lvl="2">
              <a:lnSpc>
                <a:spcPts val="2519"/>
              </a:lnSpc>
              <a:buFont typeface="Arial"/>
              <a:buChar char="⚬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Temperature → Median Imputation (3.2%)</a:t>
            </a:r>
          </a:p>
          <a:p>
            <a:pPr algn="l" marL="906774" indent="-302258" lvl="2">
              <a:lnSpc>
                <a:spcPts val="2519"/>
              </a:lnSpc>
              <a:buFont typeface="Arial"/>
              <a:buChar char="⚬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Weather → Mode Imputation (1.03%)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Duplicate Check:</a:t>
            </a:r>
          </a:p>
          <a:p>
            <a:pPr algn="l" marL="906774" indent="-302258" lvl="2">
              <a:lnSpc>
                <a:spcPts val="2519"/>
              </a:lnSpc>
              <a:buFont typeface="Arial"/>
              <a:buChar char="⚬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No duplicate records found</a:t>
            </a:r>
          </a:p>
          <a:p>
            <a:pPr algn="l">
              <a:lnSpc>
                <a:spcPts val="2519"/>
              </a:lnSpc>
            </a:pPr>
            <a:r>
              <a:rPr lang="en-US" sz="2099" spc="16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Time-Based Features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Hour extraction from timestamp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Peak Hour indicator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Rush Hour indicator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Weekend/Weekday flags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Cyclic encoding using Hour Sin and Hour Cos</a:t>
            </a:r>
          </a:p>
          <a:p>
            <a:pPr algn="l">
              <a:lnSpc>
                <a:spcPts val="2519"/>
              </a:lnSpc>
            </a:pPr>
            <a:r>
              <a:rPr lang="en-US" sz="2099" spc="16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Traffic &amp; Road Features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Large Vehicle binary encoding (1/0)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Vehicle-per-Lane ratio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Road Type encoding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Landmark Presence encoding</a:t>
            </a:r>
          </a:p>
          <a:p>
            <a:pPr algn="l">
              <a:lnSpc>
                <a:spcPts val="2519"/>
              </a:lnSpc>
            </a:pPr>
            <a:r>
              <a:rPr lang="en-US" sz="2099" spc="16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Location Intelligence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Geohash Target Encoding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Geo-Prefix Encoding to capture regional traffic patterns</a:t>
            </a:r>
          </a:p>
          <a:p>
            <a:pPr algn="l">
              <a:lnSpc>
                <a:spcPts val="2519"/>
              </a:lnSpc>
            </a:pPr>
            <a:r>
              <a:rPr lang="en-US" sz="2099" spc="16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Outcome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Generated 16+ engineered features from 11 raw features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Created the final feature-engineered dataset: train_fe.csv</a:t>
            </a:r>
          </a:p>
          <a:p>
            <a:pPr algn="l" marL="453387" indent="-226693" lvl="1">
              <a:lnSpc>
                <a:spcPts val="2519"/>
              </a:lnSpc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Eliminated all missing values</a:t>
            </a:r>
          </a:p>
          <a:p>
            <a:pPr algn="l" marL="453387" indent="-226693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9" spc="16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Prepared data for XGBoost, LightGBM, and CatBoost model training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608059" y="2383572"/>
            <a:ext cx="5642822" cy="5519855"/>
          </a:xfrm>
          <a:custGeom>
            <a:avLst/>
            <a:gdLst/>
            <a:ahLst/>
            <a:cxnLst/>
            <a:rect r="r" b="b" t="t" l="l"/>
            <a:pathLst>
              <a:path h="5519855" w="5642822">
                <a:moveTo>
                  <a:pt x="0" y="0"/>
                </a:moveTo>
                <a:lnTo>
                  <a:pt x="5642822" y="0"/>
                </a:lnTo>
                <a:lnTo>
                  <a:pt x="5642822" y="5519856"/>
                </a:lnTo>
                <a:lnTo>
                  <a:pt x="0" y="5519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34338"/>
            <a:ext cx="6424059" cy="63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849" spc="-96" b="true">
                <a:solidFill>
                  <a:srgbClr val="000000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Feature engineering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29470" y="9119567"/>
            <a:ext cx="282983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 spc="12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90" t="-43828" r="0" b="-13454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249038" y="-249038"/>
            <a:ext cx="10287000" cy="10785075"/>
            <a:chOff x="0" y="0"/>
            <a:chExt cx="2709333" cy="28405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3" cy="2840514"/>
            </a:xfrm>
            <a:custGeom>
              <a:avLst/>
              <a:gdLst/>
              <a:ahLst/>
              <a:cxnLst/>
              <a:rect r="r" b="b" t="t" l="l"/>
              <a:pathLst>
                <a:path h="2840514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2840514"/>
                  </a:lnTo>
                  <a:lnTo>
                    <a:pt x="0" y="2840514"/>
                  </a:lnTo>
                  <a:close/>
                </a:path>
              </a:pathLst>
            </a:custGeom>
            <a:gradFill rotWithShape="true">
              <a:gsLst>
                <a:gs pos="0">
                  <a:srgbClr val="1F6B9A">
                    <a:alpha val="70000"/>
                  </a:srgbClr>
                </a:gs>
                <a:gs pos="100000">
                  <a:srgbClr val="1E6C9A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709333" cy="2850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819150"/>
            <a:ext cx="6357911" cy="1155192"/>
            <a:chOff x="0" y="0"/>
            <a:chExt cx="8477215" cy="1540257"/>
          </a:xfrm>
        </p:grpSpPr>
        <p:sp>
          <p:nvSpPr>
            <p:cNvPr name="AutoShape 7" id="7"/>
            <p:cNvSpPr/>
            <p:nvPr/>
          </p:nvSpPr>
          <p:spPr>
            <a:xfrm flipV="true">
              <a:off x="0" y="1514857"/>
              <a:ext cx="1199593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95250"/>
              <a:ext cx="8477215" cy="8801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en-US" sz="4800" spc="-96" b="true">
                  <a:solidFill>
                    <a:srgbClr val="000000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Approach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429470" y="9119567"/>
            <a:ext cx="282983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 spc="12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2165" y="2623611"/>
            <a:ext cx="14815685" cy="570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7"/>
              </a:lnSpc>
            </a:pPr>
          </a:p>
          <a:p>
            <a:pPr algn="l" marL="687891" indent="-343946" lvl="1">
              <a:lnSpc>
                <a:spcPts val="5097"/>
              </a:lnSpc>
              <a:buFont typeface="Arial"/>
              <a:buChar char="•"/>
            </a:pPr>
            <a:r>
              <a:rPr lang="en-US" b="true" sz="3186" spc="6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Predicted passenger demand </a:t>
            </a:r>
            <a:r>
              <a:rPr lang="en-US" b="true" sz="3186" spc="6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(0–1 range) for 41,778 test records.</a:t>
            </a:r>
          </a:p>
          <a:p>
            <a:pPr algn="l" marL="687891" indent="-343946" lvl="1">
              <a:lnSpc>
                <a:spcPts val="5097"/>
              </a:lnSpc>
              <a:buFont typeface="Arial"/>
              <a:buChar char="•"/>
            </a:pPr>
            <a:r>
              <a:rPr lang="en-US" b="true" sz="3186" spc="6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Evaluated models using </a:t>
            </a:r>
            <a:r>
              <a:rPr lang="en-US" b="true" sz="3186" spc="6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Score = max(0, 100 × R²).</a:t>
            </a:r>
          </a:p>
          <a:p>
            <a:pPr algn="l" marL="687891" indent="-343946" lvl="1">
              <a:lnSpc>
                <a:spcPts val="5097"/>
              </a:lnSpc>
              <a:buFont typeface="Arial"/>
              <a:buChar char="•"/>
            </a:pPr>
            <a:r>
              <a:rPr lang="en-US" b="true" sz="3186" spc="6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Leveraged</a:t>
            </a:r>
            <a:r>
              <a:rPr lang="en-US" b="true" sz="3186" spc="6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temporal, geographical, road, and weather-related</a:t>
            </a:r>
            <a:r>
              <a:rPr lang="en-US" b="true" sz="3186" spc="6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features.</a:t>
            </a:r>
          </a:p>
          <a:p>
            <a:pPr algn="l" marL="687891" indent="-343946" lvl="1">
              <a:lnSpc>
                <a:spcPts val="5097"/>
              </a:lnSpc>
              <a:buFont typeface="Arial"/>
              <a:buChar char="•"/>
            </a:pPr>
            <a:r>
              <a:rPr lang="en-US" b="true" sz="3186" spc="6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Trained and compared </a:t>
            </a:r>
            <a:r>
              <a:rPr lang="en-US" b="true" sz="3186" spc="6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XGBoost, LightGBM, and CatBoost</a:t>
            </a:r>
            <a:r>
              <a:rPr lang="en-US" b="true" sz="3186" spc="6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models.</a:t>
            </a:r>
          </a:p>
          <a:p>
            <a:pPr algn="l" marL="687891" indent="-343946" lvl="1">
              <a:lnSpc>
                <a:spcPts val="5097"/>
              </a:lnSpc>
              <a:buFont typeface="Arial"/>
              <a:buChar char="•"/>
            </a:pPr>
            <a:r>
              <a:rPr lang="en-US" b="true" sz="3186" spc="6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Selected the </a:t>
            </a:r>
            <a:r>
              <a:rPr lang="en-US" b="true" sz="3186" spc="6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best-performing</a:t>
            </a:r>
            <a:r>
              <a:rPr lang="en-US" b="true" sz="3186" spc="6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model based on </a:t>
            </a:r>
            <a:r>
              <a:rPr lang="en-US" b="true" sz="3186" spc="6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validation R² score</a:t>
            </a:r>
            <a:r>
              <a:rPr lang="en-US" b="true" sz="3186" spc="6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  <a:p>
            <a:pPr algn="l">
              <a:lnSpc>
                <a:spcPts val="5097"/>
              </a:lnSpc>
            </a:pPr>
          </a:p>
          <a:p>
            <a:pPr algn="l">
              <a:lnSpc>
                <a:spcPts val="509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90" t="-43828" r="0" b="-13454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249038" y="-249038"/>
            <a:ext cx="10287000" cy="10785075"/>
            <a:chOff x="0" y="0"/>
            <a:chExt cx="2709333" cy="28405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3" cy="2840514"/>
            </a:xfrm>
            <a:custGeom>
              <a:avLst/>
              <a:gdLst/>
              <a:ahLst/>
              <a:cxnLst/>
              <a:rect r="r" b="b" t="t" l="l"/>
              <a:pathLst>
                <a:path h="2840514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2840514"/>
                  </a:lnTo>
                  <a:lnTo>
                    <a:pt x="0" y="2840514"/>
                  </a:lnTo>
                  <a:close/>
                </a:path>
              </a:pathLst>
            </a:custGeom>
            <a:gradFill rotWithShape="true">
              <a:gsLst>
                <a:gs pos="0">
                  <a:srgbClr val="1F6B9A">
                    <a:alpha val="70000"/>
                  </a:srgbClr>
                </a:gs>
                <a:gs pos="100000">
                  <a:srgbClr val="1E6C9A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709333" cy="2850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819150"/>
            <a:ext cx="6357911" cy="1155186"/>
            <a:chOff x="0" y="0"/>
            <a:chExt cx="8477215" cy="1540248"/>
          </a:xfrm>
        </p:grpSpPr>
        <p:sp>
          <p:nvSpPr>
            <p:cNvPr name="AutoShape 7" id="7"/>
            <p:cNvSpPr/>
            <p:nvPr/>
          </p:nvSpPr>
          <p:spPr>
            <a:xfrm flipV="true">
              <a:off x="0" y="1514848"/>
              <a:ext cx="1199593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95250"/>
              <a:ext cx="8477215" cy="880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en-US" sz="4800" spc="-96" b="true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Pipeline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812610" y="-322017"/>
            <a:ext cx="14475390" cy="10246582"/>
          </a:xfrm>
          <a:custGeom>
            <a:avLst/>
            <a:gdLst/>
            <a:ahLst/>
            <a:cxnLst/>
            <a:rect r="r" b="b" t="t" l="l"/>
            <a:pathLst>
              <a:path h="10246582" w="14475390">
                <a:moveTo>
                  <a:pt x="0" y="0"/>
                </a:moveTo>
                <a:lnTo>
                  <a:pt x="14475390" y="0"/>
                </a:lnTo>
                <a:lnTo>
                  <a:pt x="14475390" y="10246582"/>
                </a:lnTo>
                <a:lnTo>
                  <a:pt x="0" y="10246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48" r="0" b="-394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429470" y="9119567"/>
            <a:ext cx="282983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 spc="12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90" t="-43828" r="0" b="-13454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249038" y="-249038"/>
            <a:ext cx="10287000" cy="10785075"/>
            <a:chOff x="0" y="0"/>
            <a:chExt cx="2709333" cy="28405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3" cy="2840514"/>
            </a:xfrm>
            <a:custGeom>
              <a:avLst/>
              <a:gdLst/>
              <a:ahLst/>
              <a:cxnLst/>
              <a:rect r="r" b="b" t="t" l="l"/>
              <a:pathLst>
                <a:path h="2840514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2840514"/>
                  </a:lnTo>
                  <a:lnTo>
                    <a:pt x="0" y="2840514"/>
                  </a:lnTo>
                  <a:close/>
                </a:path>
              </a:pathLst>
            </a:custGeom>
            <a:gradFill rotWithShape="true">
              <a:gsLst>
                <a:gs pos="0">
                  <a:srgbClr val="1F6B9A">
                    <a:alpha val="70000"/>
                  </a:srgbClr>
                </a:gs>
                <a:gs pos="100000">
                  <a:srgbClr val="1E6C9A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709333" cy="2850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819150"/>
            <a:ext cx="6357911" cy="1155186"/>
            <a:chOff x="0" y="0"/>
            <a:chExt cx="8477215" cy="1540248"/>
          </a:xfrm>
        </p:grpSpPr>
        <p:sp>
          <p:nvSpPr>
            <p:cNvPr name="AutoShape 7" id="7"/>
            <p:cNvSpPr/>
            <p:nvPr/>
          </p:nvSpPr>
          <p:spPr>
            <a:xfrm flipV="true">
              <a:off x="0" y="1514848"/>
              <a:ext cx="1199593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95250"/>
              <a:ext cx="8477215" cy="880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en-US" sz="4800" spc="-96" b="true">
                  <a:solidFill>
                    <a:srgbClr val="FFFFFF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Results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429470" y="9119567"/>
            <a:ext cx="282983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 spc="12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2837089"/>
            <a:ext cx="16783296" cy="673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0"/>
              </a:lnSpc>
            </a:pPr>
          </a:p>
          <a:p>
            <a:pPr algn="ctr">
              <a:lnSpc>
                <a:spcPts val="3260"/>
              </a:lnSpc>
            </a:pPr>
          </a:p>
          <a:p>
            <a:pPr algn="ctr" marL="586680" indent="-293340" lvl="1">
              <a:lnSpc>
                <a:spcPts val="3260"/>
              </a:lnSpc>
              <a:buFont typeface="Arial"/>
              <a:buChar char="•"/>
            </a:pPr>
            <a:r>
              <a:rPr lang="en-US" b="true" sz="2717" spc="217">
                <a:solidFill>
                  <a:srgbClr val="FFFFFF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PROCESSED </a:t>
            </a:r>
            <a:r>
              <a:rPr lang="en-US" b="true" sz="2717" spc="217">
                <a:solidFill>
                  <a:srgbClr val="000000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77,299</a:t>
            </a:r>
            <a:r>
              <a:rPr lang="en-US" b="true" sz="2717" spc="217">
                <a:solidFill>
                  <a:srgbClr val="FFFFFF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TRAFFIC RECORDS SUCCESSFULLY.</a:t>
            </a:r>
          </a:p>
          <a:p>
            <a:pPr algn="ctr" marL="586680" indent="-293340" lvl="1">
              <a:lnSpc>
                <a:spcPts val="3260"/>
              </a:lnSpc>
              <a:buFont typeface="Arial"/>
              <a:buChar char="•"/>
            </a:pPr>
            <a:r>
              <a:rPr lang="en-US" b="true" sz="2717" spc="217">
                <a:solidFill>
                  <a:srgbClr val="FFFFFF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REMOVED ALL </a:t>
            </a:r>
            <a:r>
              <a:rPr lang="en-US" b="true" sz="2717" spc="217">
                <a:solidFill>
                  <a:srgbClr val="000000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MISSING VALUES</a:t>
            </a:r>
            <a:r>
              <a:rPr lang="en-US" b="true" sz="2717" spc="217">
                <a:solidFill>
                  <a:srgbClr val="FFFFFF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THROUGH IMPUTATION.</a:t>
            </a:r>
          </a:p>
          <a:p>
            <a:pPr algn="ctr" marL="634134" indent="-317067" lvl="1">
              <a:lnSpc>
                <a:spcPts val="3524"/>
              </a:lnSpc>
              <a:buFont typeface="Arial"/>
              <a:buChar char="•"/>
            </a:pPr>
            <a:r>
              <a:rPr lang="en-US" b="true" sz="2937" spc="234">
                <a:solidFill>
                  <a:srgbClr val="FFFFFF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ENGINEERED </a:t>
            </a:r>
            <a:r>
              <a:rPr lang="en-US" b="true" sz="2937" spc="234">
                <a:solidFill>
                  <a:srgbClr val="000000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12+ NEW FEATURES</a:t>
            </a:r>
            <a:r>
              <a:rPr lang="en-US" b="true" sz="2937" spc="234">
                <a:solidFill>
                  <a:srgbClr val="FFFFFF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INCLUDING:</a:t>
            </a:r>
          </a:p>
          <a:p>
            <a:pPr algn="ctr" marL="634134" indent="-317067" lvl="1">
              <a:lnSpc>
                <a:spcPts val="3524"/>
              </a:lnSpc>
              <a:buFont typeface="Arial"/>
              <a:buChar char="•"/>
            </a:pPr>
            <a:r>
              <a:rPr lang="en-US" b="true" sz="2937" spc="234">
                <a:solidFill>
                  <a:srgbClr val="000000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HOUR, WEEKDAY, WEEKEND</a:t>
            </a:r>
          </a:p>
          <a:p>
            <a:pPr algn="ctr" marL="634134" indent="-317067" lvl="1">
              <a:lnSpc>
                <a:spcPts val="3524"/>
              </a:lnSpc>
              <a:buFont typeface="Arial"/>
              <a:buChar char="•"/>
            </a:pPr>
            <a:r>
              <a:rPr lang="en-US" b="true" sz="2937" spc="234">
                <a:solidFill>
                  <a:srgbClr val="000000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PEAK-HOUR AND RUSH-HOUR INDICATORS</a:t>
            </a:r>
          </a:p>
          <a:p>
            <a:pPr algn="ctr" marL="634134" indent="-317067" lvl="1">
              <a:lnSpc>
                <a:spcPts val="3524"/>
              </a:lnSpc>
              <a:buFont typeface="Arial"/>
              <a:buChar char="•"/>
            </a:pPr>
            <a:r>
              <a:rPr lang="en-US" b="true" sz="2937" spc="234">
                <a:solidFill>
                  <a:srgbClr val="000000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CYCLIC TIME ENCODING (HOUR_SIN, HOUR_COS)</a:t>
            </a:r>
          </a:p>
          <a:p>
            <a:pPr algn="ctr" marL="634134" indent="-317067" lvl="1">
              <a:lnSpc>
                <a:spcPts val="3524"/>
              </a:lnSpc>
              <a:buFont typeface="Arial"/>
              <a:buChar char="•"/>
            </a:pPr>
            <a:r>
              <a:rPr lang="en-US" b="true" sz="2937" spc="234">
                <a:solidFill>
                  <a:srgbClr val="000000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VEHICLE-PER-LANE RATIO</a:t>
            </a:r>
          </a:p>
          <a:p>
            <a:pPr algn="ctr" marL="634134" indent="-317067" lvl="1">
              <a:lnSpc>
                <a:spcPts val="3524"/>
              </a:lnSpc>
              <a:buFont typeface="Arial"/>
              <a:buChar char="•"/>
            </a:pPr>
            <a:r>
              <a:rPr lang="en-US" b="true" sz="2937" spc="234">
                <a:solidFill>
                  <a:srgbClr val="000000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LANDMARK AND WEATHER ENCODING</a:t>
            </a:r>
          </a:p>
          <a:p>
            <a:pPr algn="ctr" marL="634134" indent="-317067" lvl="1">
              <a:lnSpc>
                <a:spcPts val="3524"/>
              </a:lnSpc>
              <a:buFont typeface="Arial"/>
              <a:buChar char="•"/>
            </a:pPr>
            <a:r>
              <a:rPr lang="en-US" b="true" sz="2937" spc="234">
                <a:solidFill>
                  <a:srgbClr val="000000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GEOHASH-BASED LOCATION FEATURES</a:t>
            </a:r>
          </a:p>
          <a:p>
            <a:pPr algn="ctr" marL="634134" indent="-317067" lvl="1">
              <a:lnSpc>
                <a:spcPts val="3524"/>
              </a:lnSpc>
              <a:buFont typeface="Arial"/>
              <a:buChar char="•"/>
            </a:pPr>
            <a:r>
              <a:rPr lang="en-US" b="true" sz="2937" spc="234">
                <a:solidFill>
                  <a:srgbClr val="FFFFFF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DEMAND SHOWED HIGH </a:t>
            </a:r>
            <a:r>
              <a:rPr lang="en-US" b="true" sz="2937" spc="234">
                <a:solidFill>
                  <a:srgbClr val="000000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POSITIVE SKEWNESS (3.73)</a:t>
            </a:r>
            <a:r>
              <a:rPr lang="en-US" b="true" sz="2937" spc="234">
                <a:solidFill>
                  <a:srgbClr val="FFFFFF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INDICATING UNEVEN TRAFFIC DEMAND PATTERNS.</a:t>
            </a:r>
          </a:p>
          <a:p>
            <a:pPr algn="ctr" marL="634134" indent="-317067" lvl="1">
              <a:lnSpc>
                <a:spcPts val="3524"/>
              </a:lnSpc>
              <a:buFont typeface="Arial"/>
              <a:buChar char="•"/>
            </a:pPr>
            <a:r>
              <a:rPr lang="en-US" b="true" sz="2937" spc="234">
                <a:solidFill>
                  <a:srgbClr val="FFFFFF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ACHIEVED AN </a:t>
            </a:r>
            <a:r>
              <a:rPr lang="en-US" b="true" sz="2937" spc="234">
                <a:solidFill>
                  <a:srgbClr val="000000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R² SCORE OF 0.9048 (90.48%)</a:t>
            </a:r>
            <a:r>
              <a:rPr lang="en-US" b="true" sz="2937" spc="234">
                <a:solidFill>
                  <a:srgbClr val="FFFFFF">
                    <a:alpha val="94902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ON THE EVALUATION DATASET.</a:t>
            </a:r>
          </a:p>
          <a:p>
            <a:pPr algn="ctr">
              <a:lnSpc>
                <a:spcPts val="5642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2130718"/>
            <a:ext cx="1565454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b="true" sz="2699" spc="215">
                <a:solidFill>
                  <a:srgbClr val="000000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FINAL SCORE:90.47564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90" t="-43828" r="0" b="-13454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608424" y="7182108"/>
            <a:ext cx="19504848" cy="3086100"/>
            <a:chOff x="0" y="0"/>
            <a:chExt cx="513707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7079" cy="812800"/>
            </a:xfrm>
            <a:custGeom>
              <a:avLst/>
              <a:gdLst/>
              <a:ahLst/>
              <a:cxnLst/>
              <a:rect r="r" b="b" t="t" l="l"/>
              <a:pathLst>
                <a:path h="812800" w="5137079">
                  <a:moveTo>
                    <a:pt x="0" y="0"/>
                  </a:moveTo>
                  <a:lnTo>
                    <a:pt x="5137079" y="0"/>
                  </a:lnTo>
                  <a:lnTo>
                    <a:pt x="513707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1F6B9A">
                    <a:alpha val="60000"/>
                  </a:srgbClr>
                </a:gs>
                <a:gs pos="100000">
                  <a:srgbClr val="1E6C9A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5137079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8060807" y="5479278"/>
            <a:ext cx="216638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-608424" y="0"/>
            <a:ext cx="19504848" cy="3086100"/>
            <a:chOff x="0" y="0"/>
            <a:chExt cx="5137079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37079" cy="812800"/>
            </a:xfrm>
            <a:custGeom>
              <a:avLst/>
              <a:gdLst/>
              <a:ahLst/>
              <a:cxnLst/>
              <a:rect r="r" b="b" t="t" l="l"/>
              <a:pathLst>
                <a:path h="812800" w="5137079">
                  <a:moveTo>
                    <a:pt x="0" y="0"/>
                  </a:moveTo>
                  <a:lnTo>
                    <a:pt x="5137079" y="0"/>
                  </a:lnTo>
                  <a:lnTo>
                    <a:pt x="513707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1F6B9A">
                    <a:alpha val="60000"/>
                  </a:srgbClr>
                </a:gs>
                <a:gs pos="100000">
                  <a:srgbClr val="1E6C9A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137079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397824" y="2790567"/>
            <a:ext cx="11492352" cy="70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6"/>
              </a:lnSpc>
            </a:pPr>
            <a:r>
              <a:rPr lang="en-US" b="true" sz="5336" spc="533">
                <a:solidFill>
                  <a:srgbClr val="00000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THE 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97824" y="3781307"/>
            <a:ext cx="11492352" cy="149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82"/>
              </a:lnSpc>
            </a:pPr>
            <a:r>
              <a:rPr lang="en-US" b="true" sz="11182" spc="559">
                <a:solidFill>
                  <a:srgbClr val="000000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THANK YOU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29085" y="9005267"/>
            <a:ext cx="282983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</a:t>
            </a: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june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1497" y="7747098"/>
            <a:ext cx="3766151" cy="196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b="true" sz="2654" spc="212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NEHA SERAKAM </a:t>
            </a:r>
          </a:p>
          <a:p>
            <a:pPr algn="ctr">
              <a:lnSpc>
                <a:spcPts val="3185"/>
              </a:lnSpc>
            </a:pPr>
            <a:r>
              <a:rPr lang="en-US" b="true" sz="2654" spc="212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JYOTI </a:t>
            </a:r>
          </a:p>
          <a:p>
            <a:pPr algn="ctr">
              <a:lnSpc>
                <a:spcPts val="3185"/>
              </a:lnSpc>
            </a:pPr>
            <a:r>
              <a:rPr lang="en-US" b="true" sz="2654" spc="212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NISHI </a:t>
            </a:r>
          </a:p>
          <a:p>
            <a:pPr algn="ctr">
              <a:lnSpc>
                <a:spcPts val="3185"/>
              </a:lnSpc>
            </a:pPr>
            <a:r>
              <a:rPr lang="en-US" b="true" sz="2654" spc="212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RAKSA</a:t>
            </a:r>
          </a:p>
          <a:p>
            <a:pPr algn="ctr">
              <a:lnSpc>
                <a:spcPts val="3185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783738" y="9548192"/>
            <a:ext cx="872628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8"/>
              </a:lnSpc>
              <a:spcBef>
                <a:spcPct val="0"/>
              </a:spcBef>
            </a:pPr>
            <a:r>
              <a:rPr lang="en-US" b="true" sz="2065" spc="165">
                <a:solidFill>
                  <a:srgbClr val="000000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GITHUB LINK :</a:t>
            </a:r>
            <a:r>
              <a:rPr lang="en-US" b="true" sz="2065" spc="16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HTTPS://GITHUB.COM/NISHI885/GRIDLOC</a:t>
            </a:r>
            <a:r>
              <a:rPr lang="en-US" b="true" sz="2065" spc="165">
                <a:solidFill>
                  <a:srgbClr val="000000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DAHLs96qXy4</dc:identifier>
  <dcterms:modified xsi:type="dcterms:W3CDTF">2011-08-01T06:04:30Z</dcterms:modified>
  <cp:revision>1</cp:revision>
  <dc:title>Problem</dc:title>
</cp:coreProperties>
</file>